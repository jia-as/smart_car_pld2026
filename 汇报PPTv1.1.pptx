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80" r:id="rId20"/>
    <p:sldId id="277" r:id="rId21"/>
    <p:sldId id="278" r:id="rId22"/>
    <p:sldId id="279" r:id="rId23"/>
    <p:sldId id="282" r:id="rId24"/>
    <p:sldId id="2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CC"/>
    <a:srgbClr val="DBEDF3"/>
    <a:srgbClr val="B7D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9" autoAdjust="0"/>
    <p:restoredTop sz="94660"/>
  </p:normalViewPr>
  <p:slideViewPr>
    <p:cSldViewPr snapToGrid="0">
      <p:cViewPr varScale="1">
        <p:scale>
          <a:sx n="73" d="100"/>
          <a:sy n="73" d="100"/>
        </p:scale>
        <p:origin x="4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897BA-FE03-4ABF-B4FF-873208E25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7F5D08-4DCA-47B3-84FA-1A43EE4E1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8F791-B3E4-4942-A3E9-F852AC06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10D77-2428-4390-85B1-E88C44A7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29874-6421-4F0C-9AF3-F2D5C001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5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9A5E6-B144-4E58-BFAA-02597278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46DA9-224D-40C2-A600-EC95171D6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459B5F-04C3-4BD7-9107-BB68408E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FCB9A3-B2FE-4272-8C9C-93C93772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6044B-FDEB-4BA6-89A6-B6D85EE5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98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1ED40-1D79-4DE7-8AC1-EEDBEFD5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CF954-B19D-455B-99C6-0F9A3D6A5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F024F-ACD2-4D45-8DCC-8D80AE81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EDC01-C5D8-489B-B7A9-467852E1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4FB711-602D-44B6-9B26-1BB14734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5360E-0BB5-44ED-8069-ED8C9F04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748F0-D4C0-4290-B7D6-112F1BB59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C76E62-39A7-4EF6-AB55-B098C11ED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CA622-685B-44A8-A39D-1522040C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A85B6C-6F87-4F90-B631-4A3C7DD1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23EDCC-F3CC-4DF7-AA72-C1583B1A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97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CA248-A3F2-4823-A1CD-7CA4E6A8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D05EB-8687-4579-AF31-3C4561703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0FBA51-896F-437A-BD1D-3C9B5C51E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AA7925-9897-47DC-A10F-ACC091223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778F88-47B0-4095-BFBC-8209DA010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43D5F8-052E-430D-8238-176FFADE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9E3DB4-D239-423F-8CB5-38F8DD60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7B353D-5188-4BD8-8AF1-F010B863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86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80683-B189-4A03-9858-3F3ECD65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31A974-9A6B-43FC-88A9-63F80174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D5AA15-7360-42DA-A380-DBD5A558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9A095F-21C8-448E-906E-FBE56E0C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50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A965FE-C86A-4734-AC92-9384C499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8CEEF2-3567-4043-ACA5-6FB46C4B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F64106-85D5-4760-AC1C-ACFE755C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13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0D57A-2099-475D-8EFB-CFC2111D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C448E-C0F2-459F-9BB4-A1091CCF2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2AD208-CEC5-4C15-AD30-CECDC8AB8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83F1E2-8A9F-4DEF-8AB4-47BDE156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EEE67C-BE98-4872-831B-6BCEF5CD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8BEC6-31CD-4A2C-A4B7-03C75315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78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CDCF3-31EF-4980-861A-89336497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9DE5A6-3D52-4738-A60F-967CBD90B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5785B-4081-4290-B6D3-C4142C02D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E7F3B-6723-47A7-B98A-C0242B59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854077-8523-49B9-9650-453984CD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B85A75-BF1C-40B8-BF2E-1EB46B6F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1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7ED11-F193-40BC-97CA-176E47A1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0151EF-3A54-43B5-8D27-8BCCDB4BF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188A3-6339-4CF3-9772-1462A248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DC22E-B65A-44FD-84BC-F5C3CEBF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016AC-85FF-4E05-B8BC-8282873F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25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9D592B-1B1A-4B54-A4F2-F969843B6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BB13D5-DFB3-47C4-AC7F-0DE584736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116B0-49D2-47C4-8145-73CE7A24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AA72D7-E7FE-406B-8675-D8B07C03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643B7-792E-445E-9D29-D009FD66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0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D19830-28DC-46B9-A687-979C111A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4A0CFB-CED3-4E16-AFBB-EDBE35DC3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2EA8C-46D2-4163-9C4E-0DEEB8AE9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48989-0938-4BB3-8DF0-B8140B09D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9D27C-BE22-4281-AD82-A8B008F1C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53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4726E-2A71-4E0B-B4B2-F1E1B864C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智能小车方向三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C33A23-B1B0-473B-998C-E9939CA4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07011"/>
            <a:ext cx="9144000" cy="1655762"/>
          </a:xfrm>
        </p:spPr>
        <p:txBody>
          <a:bodyPr/>
          <a:lstStyle/>
          <a:p>
            <a:r>
              <a:rPr lang="zh-CN" altLang="en-US" dirty="0"/>
              <a:t>唐李洋     孙嘉怡</a:t>
            </a:r>
          </a:p>
        </p:txBody>
      </p:sp>
    </p:spTree>
    <p:extLst>
      <p:ext uri="{BB962C8B-B14F-4D97-AF65-F5344CB8AC3E}">
        <p14:creationId xmlns:p14="http://schemas.microsoft.com/office/powerpoint/2010/main" val="232594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系统总体框图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FEA4E3-4A17-4D62-AC04-A370ED3B8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339" y="1825625"/>
            <a:ext cx="6881321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29A5435-145E-443E-BD3E-4CFE869FA595}"/>
              </a:ext>
            </a:extLst>
          </p:cNvPr>
          <p:cNvSpPr/>
          <p:nvPr/>
        </p:nvSpPr>
        <p:spPr>
          <a:xfrm>
            <a:off x="9624951" y="2315689"/>
            <a:ext cx="1169719" cy="504701"/>
          </a:xfrm>
          <a:prstGeom prst="rect">
            <a:avLst/>
          </a:prstGeom>
          <a:solidFill>
            <a:srgbClr val="DBED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传感器模块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15DD37-086B-4C02-BD7D-7818BDF304CA}"/>
              </a:ext>
            </a:extLst>
          </p:cNvPr>
          <p:cNvSpPr/>
          <p:nvPr/>
        </p:nvSpPr>
        <p:spPr>
          <a:xfrm>
            <a:off x="9624950" y="1072738"/>
            <a:ext cx="1169719" cy="504701"/>
          </a:xfrm>
          <a:prstGeom prst="rect">
            <a:avLst/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ESP32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9B9FF28-4925-4989-8A1D-DB2B8CD8734C}"/>
              </a:ext>
            </a:extLst>
          </p:cNvPr>
          <p:cNvCxnSpPr/>
          <p:nvPr/>
        </p:nvCxnSpPr>
        <p:spPr>
          <a:xfrm>
            <a:off x="10209809" y="1664740"/>
            <a:ext cx="0" cy="617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3A03D0E-0A11-4B58-A285-E35B30DEA217}"/>
              </a:ext>
            </a:extLst>
          </p:cNvPr>
          <p:cNvSpPr txBox="1"/>
          <p:nvPr/>
        </p:nvSpPr>
        <p:spPr>
          <a:xfrm>
            <a:off x="10306297" y="184007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传感器原始数据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1390E07F-7971-42AA-BE26-7D302F031376}"/>
              </a:ext>
            </a:extLst>
          </p:cNvPr>
          <p:cNvCxnSpPr>
            <a:cxnSpLocks/>
          </p:cNvCxnSpPr>
          <p:nvPr/>
        </p:nvCxnSpPr>
        <p:spPr>
          <a:xfrm rot="5400000">
            <a:off x="9326216" y="2961839"/>
            <a:ext cx="1094037" cy="8780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77AAF39-6756-4DF3-A4DA-48085684E30A}"/>
              </a:ext>
            </a:extLst>
          </p:cNvPr>
          <p:cNvSpPr txBox="1"/>
          <p:nvPr/>
        </p:nvSpPr>
        <p:spPr>
          <a:xfrm>
            <a:off x="10306297" y="324695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计算后数据</a:t>
            </a:r>
          </a:p>
        </p:txBody>
      </p:sp>
    </p:spTree>
    <p:extLst>
      <p:ext uri="{BB962C8B-B14F-4D97-AF65-F5344CB8AC3E}">
        <p14:creationId xmlns:p14="http://schemas.microsoft.com/office/powerpoint/2010/main" val="87015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0DD3F-E04A-4075-90C9-21CBBDE7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摄像头图像分辨率设置模块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BB8A960-EB19-44DD-86C8-EA428C1FE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02" y="1821144"/>
            <a:ext cx="4392065" cy="263871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B0BECF-3A42-4D5F-A814-95C09E2EA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51254"/>
            <a:ext cx="5510000" cy="38650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AF6854-70C9-490F-AEBF-02AC1DD8C160}"/>
              </a:ext>
            </a:extLst>
          </p:cNvPr>
          <p:cNvSpPr txBox="1"/>
          <p:nvPr/>
        </p:nvSpPr>
        <p:spPr>
          <a:xfrm>
            <a:off x="1276478" y="5142734"/>
            <a:ext cx="3768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摄像头最大分辨率</a:t>
            </a:r>
            <a:r>
              <a:rPr lang="en-US" altLang="zh-CN" dirty="0"/>
              <a:t>2592*1944</a:t>
            </a:r>
          </a:p>
          <a:p>
            <a:r>
              <a:rPr lang="zh-CN" altLang="en-US" dirty="0"/>
              <a:t>显示屏分辨率</a:t>
            </a:r>
            <a:r>
              <a:rPr lang="en-US" altLang="zh-CN" dirty="0"/>
              <a:t>800*480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摄像头分辨率设置为</a:t>
            </a:r>
            <a:r>
              <a:rPr lang="en-US" altLang="zh-CN" dirty="0"/>
              <a:t>400*480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12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A3FB0-B0E2-49E7-856E-3AAF90A9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摄像头驱动模块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8742C57-6122-41B3-91AD-37063785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49" y="2559043"/>
            <a:ext cx="5075912" cy="3933832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5D5123F-E1A0-47A1-BEBE-B3B84ECABD71}"/>
              </a:ext>
            </a:extLst>
          </p:cNvPr>
          <p:cNvGrpSpPr/>
          <p:nvPr/>
        </p:nvGrpSpPr>
        <p:grpSpPr>
          <a:xfrm>
            <a:off x="7463839" y="328024"/>
            <a:ext cx="4002709" cy="6201951"/>
            <a:chOff x="7500661" y="45426"/>
            <a:chExt cx="4002709" cy="620195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C22B7-A95E-4D5A-8B6F-08631219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0741" y="45426"/>
              <a:ext cx="3876909" cy="2627738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C7D7409-9EF6-408B-8F31-B2C1CF388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661" y="2543751"/>
              <a:ext cx="4002709" cy="370362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9EDC04-0B84-4AE2-8814-01B159B6C6EE}"/>
              </a:ext>
            </a:extLst>
          </p:cNvPr>
          <p:cNvSpPr txBox="1"/>
          <p:nvPr/>
        </p:nvSpPr>
        <p:spPr>
          <a:xfrm>
            <a:off x="926275" y="1929740"/>
            <a:ext cx="6617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块由</a:t>
            </a:r>
            <a:r>
              <a:rPr lang="en-US" altLang="zh-CN" dirty="0"/>
              <a:t>IIC</a:t>
            </a:r>
            <a:r>
              <a:rPr lang="zh-CN" altLang="en-US" dirty="0"/>
              <a:t>驱动模块、</a:t>
            </a:r>
            <a:r>
              <a:rPr lang="en-US" altLang="zh-CN" dirty="0"/>
              <a:t>OV5640</a:t>
            </a:r>
            <a:r>
              <a:rPr lang="zh-CN" altLang="en-US" dirty="0"/>
              <a:t>配置模块和摄像头图像采集封装而成</a:t>
            </a:r>
          </a:p>
        </p:txBody>
      </p:sp>
    </p:spTree>
    <p:extLst>
      <p:ext uri="{BB962C8B-B14F-4D97-AF65-F5344CB8AC3E}">
        <p14:creationId xmlns:p14="http://schemas.microsoft.com/office/powerpoint/2010/main" val="98540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71809-F2CD-421F-B610-5CBE05FF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摄像头数据采集模块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42975B-A69D-45D3-905C-E8E5C6630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2" y="3848548"/>
            <a:ext cx="5599611" cy="219339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F56132-7E02-4726-95B8-59472D79B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63" y="2420747"/>
            <a:ext cx="6096000" cy="395066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38A902B-BE1D-4FB8-9C62-F2EC8B476DDE}"/>
              </a:ext>
            </a:extLst>
          </p:cNvPr>
          <p:cNvSpPr txBox="1"/>
          <p:nvPr/>
        </p:nvSpPr>
        <p:spPr>
          <a:xfrm>
            <a:off x="290945" y="1793174"/>
            <a:ext cx="6370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将传感器输出的场同步信号、行同步信号以 及</a:t>
            </a:r>
            <a:r>
              <a:rPr lang="en-US" altLang="zh-CN" dirty="0"/>
              <a:t>8</a:t>
            </a:r>
            <a:r>
              <a:rPr lang="zh-CN" altLang="en-US" dirty="0"/>
              <a:t>位数据转换成</a:t>
            </a:r>
            <a:endParaRPr lang="en-US" altLang="zh-CN" dirty="0"/>
          </a:p>
          <a:p>
            <a:r>
              <a:rPr lang="en-US" altLang="zh-CN" dirty="0"/>
              <a:t>DDR</a:t>
            </a:r>
            <a:r>
              <a:rPr lang="zh-CN" altLang="en-US" dirty="0"/>
              <a:t>读写控制模块的写使能信号和</a:t>
            </a:r>
            <a:r>
              <a:rPr lang="en-US" altLang="zh-CN" dirty="0"/>
              <a:t>16</a:t>
            </a:r>
            <a:r>
              <a:rPr lang="zh-CN" altLang="en-US" dirty="0"/>
              <a:t>位写数据信号，</a:t>
            </a:r>
            <a:endParaRPr lang="en-US" altLang="zh-CN" dirty="0"/>
          </a:p>
          <a:p>
            <a:r>
              <a:rPr lang="zh-CN" altLang="en-US" dirty="0"/>
              <a:t>完成对</a:t>
            </a:r>
            <a:r>
              <a:rPr lang="en-US" altLang="zh-CN" dirty="0"/>
              <a:t>OV5640</a:t>
            </a:r>
            <a:r>
              <a:rPr lang="zh-CN" altLang="en-US" dirty="0"/>
              <a:t>传感器图像的采 集</a:t>
            </a:r>
          </a:p>
        </p:txBody>
      </p:sp>
    </p:spTree>
    <p:extLst>
      <p:ext uri="{BB962C8B-B14F-4D97-AF65-F5344CB8AC3E}">
        <p14:creationId xmlns:p14="http://schemas.microsoft.com/office/powerpoint/2010/main" val="6943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I2C</a:t>
            </a:r>
            <a:r>
              <a:rPr lang="zh-CN" altLang="en-US" sz="3200" dirty="0"/>
              <a:t>配置模块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0AD3E1E-134A-41B2-9041-896C9336A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81" y="2651775"/>
            <a:ext cx="5582084" cy="356142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B84A97-9375-41BC-9D87-A1898A15E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126" y="1515513"/>
            <a:ext cx="4772659" cy="48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6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I2C</a:t>
            </a:r>
            <a:r>
              <a:rPr lang="zh-CN" altLang="en-US" sz="3200" dirty="0"/>
              <a:t>驱动模块 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3E1124-8A78-4C5F-9861-B5E5890A4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83" y="4010111"/>
            <a:ext cx="5283159" cy="2130740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F4F636E-8FDD-4822-AA67-023C398727A5}"/>
              </a:ext>
            </a:extLst>
          </p:cNvPr>
          <p:cNvGrpSpPr/>
          <p:nvPr/>
        </p:nvGrpSpPr>
        <p:grpSpPr>
          <a:xfrm>
            <a:off x="6287984" y="1128155"/>
            <a:ext cx="5797138" cy="5204695"/>
            <a:chOff x="4654819" y="150775"/>
            <a:chExt cx="6925911" cy="630647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CD8F0A0-C216-4141-AADB-457587D5DB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"/>
            <a:stretch/>
          </p:blipFill>
          <p:spPr>
            <a:xfrm>
              <a:off x="4690754" y="150775"/>
              <a:ext cx="6889976" cy="37338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6EA8205-7370-4BA5-A84C-5A90D66C8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4819" y="3742623"/>
              <a:ext cx="6829425" cy="271462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FDD7B87-0C3D-447E-940F-8E999F1E61DE}"/>
              </a:ext>
            </a:extLst>
          </p:cNvPr>
          <p:cNvSpPr txBox="1"/>
          <p:nvPr/>
        </p:nvSpPr>
        <p:spPr>
          <a:xfrm>
            <a:off x="1550126" y="2368731"/>
            <a:ext cx="3659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负责驱动</a:t>
            </a:r>
            <a:r>
              <a:rPr lang="en-US" altLang="zh-CN" dirty="0"/>
              <a:t>OV5640 SCCB</a:t>
            </a:r>
            <a:r>
              <a:rPr lang="zh-CN" altLang="en-US" dirty="0"/>
              <a:t>接口总线，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/>
              <a:t>OV5640</a:t>
            </a:r>
            <a:r>
              <a:rPr lang="zh-CN" altLang="en-US" dirty="0"/>
              <a:t>的寄存器进行配置</a:t>
            </a:r>
          </a:p>
        </p:txBody>
      </p:sp>
    </p:spTree>
    <p:extLst>
      <p:ext uri="{BB962C8B-B14F-4D97-AF65-F5344CB8AC3E}">
        <p14:creationId xmlns:p14="http://schemas.microsoft.com/office/powerpoint/2010/main" val="140428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控制模块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BA16B8-7781-4F45-9D95-450C0C12E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69" y="2367169"/>
            <a:ext cx="4913088" cy="4351338"/>
          </a:xfr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CD1E3DF-E19E-4A96-A15D-DE591D8AD96F}"/>
              </a:ext>
            </a:extLst>
          </p:cNvPr>
          <p:cNvSpPr txBox="1"/>
          <p:nvPr/>
        </p:nvSpPr>
        <p:spPr>
          <a:xfrm>
            <a:off x="5467711" y="1039744"/>
            <a:ext cx="65197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两个摄像头采集数据并且把数据存入两个写</a:t>
            </a:r>
            <a:r>
              <a:rPr lang="en-US" altLang="zh-CN" dirty="0"/>
              <a:t>FIFO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两个写</a:t>
            </a:r>
            <a:r>
              <a:rPr lang="en-US" altLang="zh-CN" dirty="0"/>
              <a:t>FIFO</a:t>
            </a:r>
            <a:r>
              <a:rPr lang="zh-CN" altLang="en-US" dirty="0"/>
              <a:t>再将数据写入</a:t>
            </a:r>
            <a:r>
              <a:rPr lang="en-US" altLang="zh-CN" dirty="0"/>
              <a:t>DDR3</a:t>
            </a:r>
            <a:r>
              <a:rPr lang="zh-CN" altLang="en-US" dirty="0"/>
              <a:t>的两个不同的存储空间中，</a:t>
            </a:r>
            <a:endParaRPr lang="en-US" altLang="zh-CN" dirty="0"/>
          </a:p>
          <a:p>
            <a:r>
              <a:rPr lang="zh-CN" altLang="en-US" dirty="0"/>
              <a:t>接着两个读</a:t>
            </a:r>
            <a:r>
              <a:rPr lang="en-US" altLang="zh-CN" dirty="0"/>
              <a:t>FIFO</a:t>
            </a:r>
            <a:r>
              <a:rPr lang="zh-CN" altLang="en-US" dirty="0"/>
              <a:t>分别从两个对应的</a:t>
            </a:r>
            <a:r>
              <a:rPr lang="en-US" altLang="zh-CN" dirty="0"/>
              <a:t>DDR3</a:t>
            </a:r>
            <a:r>
              <a:rPr lang="zh-CN" altLang="en-US" dirty="0"/>
              <a:t>地址空间中取出数据，</a:t>
            </a:r>
            <a:endParaRPr lang="en-US" altLang="zh-CN" dirty="0"/>
          </a:p>
          <a:p>
            <a:r>
              <a:rPr lang="zh-CN" altLang="en-US" dirty="0"/>
              <a:t>最后两组数据一起拼接为完整的一帧</a:t>
            </a:r>
            <a:r>
              <a:rPr lang="en-US" altLang="zh-CN" dirty="0"/>
              <a:t>LCD</a:t>
            </a:r>
            <a:r>
              <a:rPr lang="zh-CN" altLang="en-US" dirty="0"/>
              <a:t>图像，</a:t>
            </a:r>
            <a:endParaRPr lang="en-US" altLang="zh-CN" dirty="0"/>
          </a:p>
          <a:p>
            <a:r>
              <a:rPr lang="zh-CN" altLang="en-US" dirty="0"/>
              <a:t>达到一个屏幕同时显示两幅图像的效果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AB8EFB4-0878-401F-990B-977B53A4B668}"/>
              </a:ext>
            </a:extLst>
          </p:cNvPr>
          <p:cNvGrpSpPr/>
          <p:nvPr/>
        </p:nvGrpSpPr>
        <p:grpSpPr>
          <a:xfrm>
            <a:off x="5313728" y="2924572"/>
            <a:ext cx="3618304" cy="1808355"/>
            <a:chOff x="1852612" y="2233612"/>
            <a:chExt cx="8486775" cy="4919548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0B40AECE-CFAE-4F54-99A5-2F18041C0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2612" y="2233612"/>
              <a:ext cx="8486775" cy="2390775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17AAB003-D6F4-4698-839A-A299292E4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927" y="4482324"/>
              <a:ext cx="8152410" cy="2670836"/>
            </a:xfrm>
            <a:prstGeom prst="rect">
              <a:avLst/>
            </a:prstGeom>
          </p:spPr>
        </p:pic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FD322D7A-0069-4B03-8605-D5889DFD4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004" y="3188112"/>
            <a:ext cx="3093364" cy="161895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42AB402-4C4B-4267-8F67-80225FCA6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407" y="5140427"/>
            <a:ext cx="2787675" cy="146103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99338B8-8AB5-480F-A25C-A0D271FD5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25" y="5098829"/>
            <a:ext cx="2655720" cy="139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控制模块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F2F588-FB23-4700-84ED-81C5C0845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3429000"/>
            <a:ext cx="10115550" cy="314325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FA11E0-E205-46C4-85A5-3390488A079A}"/>
              </a:ext>
            </a:extLst>
          </p:cNvPr>
          <p:cNvSpPr txBox="1"/>
          <p:nvPr/>
        </p:nvSpPr>
        <p:spPr>
          <a:xfrm>
            <a:off x="2464130" y="1674674"/>
            <a:ext cx="65197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两个摄像头采集数据并且把数据存入两个写</a:t>
            </a:r>
            <a:r>
              <a:rPr lang="en-US" altLang="zh-CN" dirty="0"/>
              <a:t>FIFO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两个写</a:t>
            </a:r>
            <a:r>
              <a:rPr lang="en-US" altLang="zh-CN" dirty="0"/>
              <a:t>FIFO</a:t>
            </a:r>
            <a:r>
              <a:rPr lang="zh-CN" altLang="en-US" dirty="0"/>
              <a:t>再将数据写入</a:t>
            </a:r>
            <a:r>
              <a:rPr lang="en-US" altLang="zh-CN" dirty="0"/>
              <a:t>DDR3</a:t>
            </a:r>
            <a:r>
              <a:rPr lang="zh-CN" altLang="en-US" dirty="0"/>
              <a:t>的两个不同的存储空间中，</a:t>
            </a:r>
            <a:endParaRPr lang="en-US" altLang="zh-CN" dirty="0"/>
          </a:p>
          <a:p>
            <a:r>
              <a:rPr lang="zh-CN" altLang="en-US" dirty="0"/>
              <a:t>接着两个读</a:t>
            </a:r>
            <a:r>
              <a:rPr lang="en-US" altLang="zh-CN" dirty="0"/>
              <a:t>FIFO</a:t>
            </a:r>
            <a:r>
              <a:rPr lang="zh-CN" altLang="en-US" dirty="0"/>
              <a:t>分别从两个对应的</a:t>
            </a:r>
            <a:r>
              <a:rPr lang="en-US" altLang="zh-CN" dirty="0"/>
              <a:t>DDR3</a:t>
            </a:r>
            <a:r>
              <a:rPr lang="zh-CN" altLang="en-US" dirty="0"/>
              <a:t>地址空间中取出数据，</a:t>
            </a:r>
            <a:endParaRPr lang="en-US" altLang="zh-CN" dirty="0"/>
          </a:p>
          <a:p>
            <a:r>
              <a:rPr lang="zh-CN" altLang="en-US" dirty="0"/>
              <a:t>最后两组数据一起拼接为完整的一帧</a:t>
            </a:r>
            <a:r>
              <a:rPr lang="en-US" altLang="zh-CN" dirty="0"/>
              <a:t>LCD</a:t>
            </a:r>
            <a:r>
              <a:rPr lang="zh-CN" altLang="en-US" dirty="0"/>
              <a:t>图像，</a:t>
            </a:r>
            <a:endParaRPr lang="en-US" altLang="zh-CN" dirty="0"/>
          </a:p>
          <a:p>
            <a:r>
              <a:rPr lang="zh-CN" altLang="en-US" dirty="0"/>
              <a:t>达到一个屏幕同时显示两幅图像的效果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256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06" y="11984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读写模块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5FD391-FFFA-4358-872B-F7E86D5E6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06" y="1748228"/>
            <a:ext cx="2687706" cy="4351338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730E1F-6696-4041-8675-91649CEAE8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10"/>
          <a:stretch/>
        </p:blipFill>
        <p:spPr>
          <a:xfrm>
            <a:off x="7810320" y="2549173"/>
            <a:ext cx="3915234" cy="3805036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E17CE6-C1E2-4CFC-9C06-140A63379C4B}"/>
              </a:ext>
            </a:extLst>
          </p:cNvPr>
          <p:cNvGrpSpPr/>
          <p:nvPr/>
        </p:nvGrpSpPr>
        <p:grpSpPr>
          <a:xfrm>
            <a:off x="3932904" y="2549173"/>
            <a:ext cx="3550257" cy="3805036"/>
            <a:chOff x="5047477" y="2454473"/>
            <a:chExt cx="2623417" cy="281168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FF88EE4-0631-46E2-86E9-93F7A9AA4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1783" y="2454473"/>
              <a:ext cx="2579111" cy="87144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5F0E742-2C27-480F-AAE5-9EFE3D62A3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94"/>
            <a:stretch/>
          </p:blipFill>
          <p:spPr>
            <a:xfrm>
              <a:off x="5047477" y="3272474"/>
              <a:ext cx="2528982" cy="19936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053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读写模块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8BE05B-F437-4EC3-A759-FA41E27F4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233" y="427512"/>
            <a:ext cx="5376311" cy="614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5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 </a:t>
            </a:r>
            <a:r>
              <a:rPr lang="en-US" altLang="zh-CN" sz="3200" dirty="0"/>
              <a:t>FIFO</a:t>
            </a:r>
            <a:r>
              <a:rPr lang="zh-CN" altLang="en-US" sz="3200" dirty="0"/>
              <a:t>调度顶层模块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8014E4A-E277-478B-821A-AAC94AF7A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6" y="1690688"/>
            <a:ext cx="5973054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AA07AE-D4C0-4D5E-8F5B-5366C9F6A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21" y="2702327"/>
            <a:ext cx="5277345" cy="251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3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EC38AFB-83E1-41F6-BA3B-2613949AF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08" y="567005"/>
            <a:ext cx="5143500" cy="27813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2674FD-BC6D-46EA-955D-3528CE987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69" y="3773785"/>
            <a:ext cx="4675566" cy="24882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320914-4E0E-4341-AD4A-374F86E99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8" y="256767"/>
            <a:ext cx="4276725" cy="32289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89B077-5C95-4705-A769-BFEF21FCF1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61" y="3860149"/>
            <a:ext cx="4985083" cy="2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8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LCD</a:t>
            </a:r>
            <a:r>
              <a:rPr lang="zh-CN" altLang="en-US" dirty="0"/>
              <a:t>顶层模块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BF406493-A82A-4461-85FB-A0EA8303C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845" y="1825625"/>
            <a:ext cx="8152309" cy="4351338"/>
          </a:xfr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8CD867-151A-490D-9C7E-DC46F23AAB58}"/>
              </a:ext>
            </a:extLst>
          </p:cNvPr>
          <p:cNvCxnSpPr>
            <a:cxnSpLocks/>
          </p:cNvCxnSpPr>
          <p:nvPr/>
        </p:nvCxnSpPr>
        <p:spPr>
          <a:xfrm>
            <a:off x="2185060" y="5607133"/>
            <a:ext cx="413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4CFD9BB-0C3A-4097-8D73-43F848A36A34}"/>
              </a:ext>
            </a:extLst>
          </p:cNvPr>
          <p:cNvSpPr txBox="1"/>
          <p:nvPr/>
        </p:nvSpPr>
        <p:spPr>
          <a:xfrm>
            <a:off x="2755292" y="5299356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speed, </a:t>
            </a:r>
            <a:r>
              <a:rPr lang="en-US" altLang="zh-CN" sz="1400" dirty="0" err="1"/>
              <a:t>accspeed</a:t>
            </a:r>
            <a:r>
              <a:rPr lang="en-US" altLang="zh-CN" sz="1400" dirty="0"/>
              <a:t>, angle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1327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LCD</a:t>
            </a:r>
            <a:r>
              <a:rPr lang="zh-CN" altLang="en-US" sz="3200" dirty="0"/>
              <a:t>显示模块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AD64D6-C0F4-4260-8DDC-327DB8A79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02" y="2506413"/>
            <a:ext cx="5404077" cy="362442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496C76-2575-45CB-AA56-559B4BA27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97225"/>
            <a:ext cx="5857875" cy="311467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EA9BE9-72E2-470A-BB20-ECBEDE45BE57}"/>
              </a:ext>
            </a:extLst>
          </p:cNvPr>
          <p:cNvCxnSpPr>
            <a:cxnSpLocks/>
          </p:cNvCxnSpPr>
          <p:nvPr/>
        </p:nvCxnSpPr>
        <p:spPr>
          <a:xfrm flipH="1">
            <a:off x="4215740" y="2927267"/>
            <a:ext cx="1531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A92629D-4934-48DC-A5A7-3B67B530FAB0}"/>
              </a:ext>
            </a:extLst>
          </p:cNvPr>
          <p:cNvSpPr txBox="1"/>
          <p:nvPr/>
        </p:nvSpPr>
        <p:spPr>
          <a:xfrm>
            <a:off x="4453464" y="2636162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speed 32</a:t>
            </a:r>
            <a:r>
              <a:rPr lang="zh-CN" altLang="en-US" sz="1400" dirty="0"/>
              <a:t>位宽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08FAB89-2EFA-4055-AF93-3D3471D9DD45}"/>
              </a:ext>
            </a:extLst>
          </p:cNvPr>
          <p:cNvCxnSpPr>
            <a:cxnSpLocks/>
          </p:cNvCxnSpPr>
          <p:nvPr/>
        </p:nvCxnSpPr>
        <p:spPr>
          <a:xfrm flipH="1">
            <a:off x="4215739" y="5442857"/>
            <a:ext cx="1531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E01DD70-99CF-4880-A961-400AD80FC339}"/>
              </a:ext>
            </a:extLst>
          </p:cNvPr>
          <p:cNvCxnSpPr>
            <a:cxnSpLocks/>
          </p:cNvCxnSpPr>
          <p:nvPr/>
        </p:nvCxnSpPr>
        <p:spPr>
          <a:xfrm flipH="1">
            <a:off x="4215740" y="3659579"/>
            <a:ext cx="1531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B626B3A-9958-4DED-B59B-A7AD22D06EE3}"/>
              </a:ext>
            </a:extLst>
          </p:cNvPr>
          <p:cNvSpPr txBox="1"/>
          <p:nvPr/>
        </p:nvSpPr>
        <p:spPr>
          <a:xfrm>
            <a:off x="4411373" y="3351802"/>
            <a:ext cx="1550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/>
              <a:t>accspeed</a:t>
            </a:r>
            <a:r>
              <a:rPr lang="en-US" altLang="zh-CN" sz="1400" dirty="0"/>
              <a:t> 32</a:t>
            </a:r>
            <a:r>
              <a:rPr lang="zh-CN" altLang="en-US" sz="1400" dirty="0"/>
              <a:t>位宽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801660-B7DC-43C5-B3C5-8F450B1D6388}"/>
              </a:ext>
            </a:extLst>
          </p:cNvPr>
          <p:cNvSpPr txBox="1"/>
          <p:nvPr/>
        </p:nvSpPr>
        <p:spPr>
          <a:xfrm>
            <a:off x="4411373" y="5135079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angle 32</a:t>
            </a:r>
            <a:r>
              <a:rPr lang="zh-CN" altLang="en-US" sz="1400" dirty="0"/>
              <a:t>位宽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42622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读</a:t>
            </a:r>
            <a:r>
              <a:rPr lang="en-US" altLang="zh-CN" sz="3200" dirty="0"/>
              <a:t>ID</a:t>
            </a:r>
            <a:r>
              <a:rPr lang="zh-CN" altLang="en-US" sz="3200" dirty="0"/>
              <a:t>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4EEC105-6E1E-4296-94E7-18CFD99AD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853" y="325641"/>
            <a:ext cx="5362575" cy="24003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B9EEF2-7255-403F-BC1F-321CFF0E7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14" y="3062148"/>
            <a:ext cx="9071602" cy="370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0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LCD</a:t>
            </a:r>
            <a:r>
              <a:rPr lang="zh-CN" altLang="en-US" sz="3200" dirty="0"/>
              <a:t>驱动模块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7B4B9C9-C372-4283-AF10-A47AE3A48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6" y="3052789"/>
            <a:ext cx="5390877" cy="3205188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B6349A7-B8FD-4BD4-9F54-674803273DC9}"/>
              </a:ext>
            </a:extLst>
          </p:cNvPr>
          <p:cNvGrpSpPr/>
          <p:nvPr/>
        </p:nvGrpSpPr>
        <p:grpSpPr>
          <a:xfrm>
            <a:off x="5198744" y="901325"/>
            <a:ext cx="6915150" cy="4908764"/>
            <a:chOff x="4089317" y="705382"/>
            <a:chExt cx="6915150" cy="490876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A3D71A3-CA6D-44DC-9D39-AC9D30116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317" y="705382"/>
              <a:ext cx="6915150" cy="405765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928FBA-3B54-44DE-B621-FD54C39B07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66"/>
            <a:stretch/>
          </p:blipFill>
          <p:spPr>
            <a:xfrm>
              <a:off x="4119007" y="4708566"/>
              <a:ext cx="6819900" cy="905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4815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传感器传输模块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0D9FF57F-20EA-4000-B350-FA02FA205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1375733"/>
            <a:ext cx="9182100" cy="3600450"/>
          </a:xfr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70E4727-4C5C-4BAA-ACC3-B1241B1F19D3}"/>
              </a:ext>
            </a:extLst>
          </p:cNvPr>
          <p:cNvSpPr/>
          <p:nvPr/>
        </p:nvSpPr>
        <p:spPr>
          <a:xfrm>
            <a:off x="2778812" y="1704218"/>
            <a:ext cx="3693240" cy="961791"/>
          </a:xfrm>
          <a:prstGeom prst="rect">
            <a:avLst/>
          </a:prstGeom>
          <a:solidFill>
            <a:srgbClr val="B7DDE8"/>
          </a:solidFill>
          <a:ln>
            <a:solidFill>
              <a:srgbClr val="B7D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597AF2-E8C1-4E17-865A-545D30293E18}"/>
              </a:ext>
            </a:extLst>
          </p:cNvPr>
          <p:cNvSpPr/>
          <p:nvPr/>
        </p:nvSpPr>
        <p:spPr>
          <a:xfrm>
            <a:off x="6537366" y="1483386"/>
            <a:ext cx="2024743" cy="1008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6323F1-8EF2-495E-993E-DF050DFF3A41}"/>
              </a:ext>
            </a:extLst>
          </p:cNvPr>
          <p:cNvSpPr/>
          <p:nvPr/>
        </p:nvSpPr>
        <p:spPr>
          <a:xfrm>
            <a:off x="2885704" y="5720305"/>
            <a:ext cx="1009402" cy="516577"/>
          </a:xfrm>
          <a:prstGeom prst="rect">
            <a:avLst/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数据计算模块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1F5FBCB-4B6D-4203-86E9-47F3EE21660C}"/>
              </a:ext>
            </a:extLst>
          </p:cNvPr>
          <p:cNvCxnSpPr>
            <a:cxnSpLocks/>
          </p:cNvCxnSpPr>
          <p:nvPr/>
        </p:nvCxnSpPr>
        <p:spPr>
          <a:xfrm>
            <a:off x="3372592" y="4655127"/>
            <a:ext cx="0" cy="95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A84A489-215B-4047-BF59-4A993D26BD4F}"/>
              </a:ext>
            </a:extLst>
          </p:cNvPr>
          <p:cNvSpPr txBox="1"/>
          <p:nvPr/>
        </p:nvSpPr>
        <p:spPr>
          <a:xfrm>
            <a:off x="3372592" y="508539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计算数据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99287B7-2A8E-4213-A458-4A6742C7965F}"/>
              </a:ext>
            </a:extLst>
          </p:cNvPr>
          <p:cNvCxnSpPr>
            <a:cxnSpLocks/>
          </p:cNvCxnSpPr>
          <p:nvPr/>
        </p:nvCxnSpPr>
        <p:spPr>
          <a:xfrm>
            <a:off x="4059382" y="5978593"/>
            <a:ext cx="13854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D6FBFE7-02B8-4991-82E3-7BE26593D76A}"/>
              </a:ext>
            </a:extLst>
          </p:cNvPr>
          <p:cNvSpPr txBox="1"/>
          <p:nvPr/>
        </p:nvSpPr>
        <p:spPr>
          <a:xfrm>
            <a:off x="4174026" y="561109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计算结果</a:t>
            </a:r>
          </a:p>
        </p:txBody>
      </p:sp>
    </p:spTree>
    <p:extLst>
      <p:ext uri="{BB962C8B-B14F-4D97-AF65-F5344CB8AC3E}">
        <p14:creationId xmlns:p14="http://schemas.microsoft.com/office/powerpoint/2010/main" val="407808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4726E-2A71-4E0B-B4B2-F1E1B864C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0358"/>
            <a:ext cx="9144000" cy="3272456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FPT2026     Track-A 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Budgeted End-to-End LLM4HLS Agent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3552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2AF1B-EE26-45FF-ADAC-81B23D75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改进一：优化轮数分离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1FAC78-1504-4A30-A8EA-1C5F2AE50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11" y="1744784"/>
            <a:ext cx="6029325" cy="6762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F3F85C-6265-4E07-8A7B-60612C733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11" y="2629300"/>
            <a:ext cx="6315075" cy="685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14A3AA-23CB-4AE9-94EA-F0948810D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11" y="4423878"/>
            <a:ext cx="5476875" cy="9715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8F6708C-FA37-4B93-9101-8C86E183047C}"/>
              </a:ext>
            </a:extLst>
          </p:cNvPr>
          <p:cNvSpPr txBox="1"/>
          <p:nvPr/>
        </p:nvSpPr>
        <p:spPr>
          <a:xfrm>
            <a:off x="7457703" y="1851222"/>
            <a:ext cx="235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两个轮数独立配置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923144-1C0F-4625-AC78-E48389EF0213}"/>
              </a:ext>
            </a:extLst>
          </p:cNvPr>
          <p:cNvSpPr txBox="1"/>
          <p:nvPr/>
        </p:nvSpPr>
        <p:spPr>
          <a:xfrm>
            <a:off x="7428410" y="2787534"/>
            <a:ext cx="476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self.repair_rounds</a:t>
            </a:r>
            <a:r>
              <a:rPr lang="en-US" altLang="zh-CN" dirty="0"/>
              <a:t>, </a:t>
            </a:r>
            <a:r>
              <a:rPr lang="en-US" altLang="zh-CN" dirty="0" err="1"/>
              <a:t>self.opt_rounds</a:t>
            </a:r>
            <a:r>
              <a:rPr lang="en-US" altLang="zh-CN" dirty="0"/>
              <a:t> </a:t>
            </a:r>
            <a:r>
              <a:rPr lang="zh-CN" altLang="en-US" dirty="0"/>
              <a:t>分别存储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AF2FA9-79B9-4688-9351-CCDDBF43952D}"/>
              </a:ext>
            </a:extLst>
          </p:cNvPr>
          <p:cNvSpPr txBox="1"/>
          <p:nvPr/>
        </p:nvSpPr>
        <p:spPr>
          <a:xfrm>
            <a:off x="7278187" y="4749097"/>
            <a:ext cx="418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优化用 </a:t>
            </a:r>
            <a:r>
              <a:rPr lang="en-US" altLang="zh-CN" dirty="0" err="1"/>
              <a:t>opt_rounds</a:t>
            </a:r>
            <a:r>
              <a:rPr lang="zh-CN" altLang="en-US" dirty="0"/>
              <a:t>，且加入 </a:t>
            </a:r>
            <a:r>
              <a:rPr lang="en-US" altLang="zh-CN" dirty="0"/>
              <a:t>stalls </a:t>
            </a:r>
            <a:r>
              <a:rPr lang="zh-CN" altLang="en-US" dirty="0"/>
              <a:t>计数，连续两轮无改进提前终止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19F4F0E-569D-4F18-9F87-26D440782C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11" y="3582042"/>
            <a:ext cx="7886700" cy="60007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5538C4A-AEFF-44DC-921C-BF081D8184A0}"/>
              </a:ext>
            </a:extLst>
          </p:cNvPr>
          <p:cNvSpPr txBox="1"/>
          <p:nvPr/>
        </p:nvSpPr>
        <p:spPr>
          <a:xfrm>
            <a:off x="8874035" y="3723846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修复用 </a:t>
            </a:r>
            <a:r>
              <a:rPr lang="en-US" altLang="zh-CN" dirty="0" err="1"/>
              <a:t>repair_rounds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EC0B348-9A30-46CB-AB2E-5E0AC40B67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11" y="6065544"/>
            <a:ext cx="5486400" cy="29527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DE049AF-D3FD-4779-A42D-DE3456E62F5B}"/>
              </a:ext>
            </a:extLst>
          </p:cNvPr>
          <p:cNvSpPr txBox="1"/>
          <p:nvPr/>
        </p:nvSpPr>
        <p:spPr>
          <a:xfrm>
            <a:off x="7008222" y="6051347"/>
            <a:ext cx="491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参考示例只有 </a:t>
            </a:r>
            <a:r>
              <a:rPr lang="en-US" altLang="zh-CN" dirty="0" err="1"/>
              <a:t>max_rounds</a:t>
            </a:r>
            <a:r>
              <a:rPr lang="en-US" altLang="zh-CN" dirty="0"/>
              <a:t>=6</a:t>
            </a:r>
            <a:r>
              <a:rPr lang="zh-CN" altLang="en-US" dirty="0"/>
              <a:t>，修复和优化共享</a:t>
            </a:r>
          </a:p>
        </p:txBody>
      </p:sp>
    </p:spTree>
    <p:extLst>
      <p:ext uri="{BB962C8B-B14F-4D97-AF65-F5344CB8AC3E}">
        <p14:creationId xmlns:p14="http://schemas.microsoft.com/office/powerpoint/2010/main" val="1156047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2AF1B-EE26-45FF-ADAC-81B23D75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改进二：分温度策略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AAA335-F9EA-4A7C-90EF-5F69CF497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5" y="1506718"/>
            <a:ext cx="6086475" cy="6572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ACAE60-A7B2-49A0-9CA3-DBB962BBA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5" y="2304139"/>
            <a:ext cx="9448800" cy="9715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957AFCF-2F54-44A3-9274-ED66790026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5" y="3582312"/>
            <a:ext cx="10448925" cy="3714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9F00F65-B7C1-466F-882A-49160EB4E7CB}"/>
              </a:ext>
            </a:extLst>
          </p:cNvPr>
          <p:cNvSpPr txBox="1"/>
          <p:nvPr/>
        </p:nvSpPr>
        <p:spPr>
          <a:xfrm>
            <a:off x="7794172" y="1495831"/>
            <a:ext cx="1864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修复阶段调用</a:t>
            </a:r>
            <a:r>
              <a:rPr lang="en-US" altLang="zh-CN" dirty="0"/>
              <a:t>0.1</a:t>
            </a:r>
          </a:p>
          <a:p>
            <a:r>
              <a:rPr lang="zh-CN" altLang="en-US" dirty="0"/>
              <a:t>优化阶段调用</a:t>
            </a:r>
            <a:r>
              <a:rPr lang="en-US" altLang="zh-CN" dirty="0"/>
              <a:t>0.3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4FE061A-0B12-4127-83EA-4333B3B569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5" y="5349062"/>
            <a:ext cx="5962650" cy="42862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A4ABC7C-EC1D-4F83-9B06-1234EC6A95EA}"/>
              </a:ext>
            </a:extLst>
          </p:cNvPr>
          <p:cNvSpPr txBox="1"/>
          <p:nvPr/>
        </p:nvSpPr>
        <p:spPr>
          <a:xfrm>
            <a:off x="7794172" y="5349062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参考示例全局调用</a:t>
            </a:r>
            <a:r>
              <a:rPr lang="en-US" altLang="zh-CN" dirty="0"/>
              <a:t>0.7</a:t>
            </a:r>
            <a:r>
              <a:rPr lang="zh-CN" altLang="en-US" dirty="0"/>
              <a:t>，无区分</a:t>
            </a:r>
          </a:p>
        </p:txBody>
      </p:sp>
    </p:spTree>
    <p:extLst>
      <p:ext uri="{BB962C8B-B14F-4D97-AF65-F5344CB8AC3E}">
        <p14:creationId xmlns:p14="http://schemas.microsoft.com/office/powerpoint/2010/main" val="2124742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2AF1B-EE26-45FF-ADAC-81B23D75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改进三：精准错误反馈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9A82DC-C7DA-4D94-862E-21BD2BA39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64" y="1309207"/>
            <a:ext cx="7696744" cy="13852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22C68C-A92B-4C80-8FE4-2327CD3E5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64" y="2793119"/>
            <a:ext cx="7696744" cy="26080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FA5B3AF-CDEF-45BD-BD08-6040D591394B}"/>
              </a:ext>
            </a:extLst>
          </p:cNvPr>
          <p:cNvSpPr txBox="1"/>
          <p:nvPr/>
        </p:nvSpPr>
        <p:spPr>
          <a:xfrm>
            <a:off x="8638903" y="169068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错误关键词定义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8734E5-8A06-4955-B087-FC1639A8E159}"/>
              </a:ext>
            </a:extLst>
          </p:cNvPr>
          <p:cNvSpPr txBox="1"/>
          <p:nvPr/>
        </p:nvSpPr>
        <p:spPr>
          <a:xfrm>
            <a:off x="8560526" y="3228012"/>
            <a:ext cx="2859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反馈方法：</a:t>
            </a:r>
            <a:endParaRPr lang="en-US" altLang="zh-CN" dirty="0"/>
          </a:p>
          <a:p>
            <a:r>
              <a:rPr lang="zh-CN" altLang="en-US" dirty="0"/>
              <a:t>  从日志筛选含关键词的行</a:t>
            </a:r>
            <a:endParaRPr lang="en-US" altLang="zh-CN" dirty="0"/>
          </a:p>
          <a:p>
            <a:r>
              <a:rPr lang="en-US" altLang="zh-CN" dirty="0"/>
              <a:t>+</a:t>
            </a:r>
            <a:r>
              <a:rPr lang="zh-CN" altLang="en-US" dirty="0"/>
              <a:t>日志尾部</a:t>
            </a:r>
            <a:r>
              <a:rPr lang="en-US" altLang="zh-CN" dirty="0"/>
              <a:t>40</a:t>
            </a:r>
            <a:r>
              <a:rPr lang="zh-CN" altLang="en-US" dirty="0"/>
              <a:t>行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59F8F2-F085-4B5A-9F4D-CC934DEB1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64" y="5608218"/>
            <a:ext cx="11496675" cy="8001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A0D78C5-0A44-4A57-BD89-44E589A6BD1C}"/>
              </a:ext>
            </a:extLst>
          </p:cNvPr>
          <p:cNvSpPr txBox="1"/>
          <p:nvPr/>
        </p:nvSpPr>
        <p:spPr>
          <a:xfrm>
            <a:off x="8860810" y="499236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参考示例直接整段截尾</a:t>
            </a:r>
          </a:p>
        </p:txBody>
      </p:sp>
    </p:spTree>
    <p:extLst>
      <p:ext uri="{BB962C8B-B14F-4D97-AF65-F5344CB8AC3E}">
        <p14:creationId xmlns:p14="http://schemas.microsoft.com/office/powerpoint/2010/main" val="2936337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2AF1B-EE26-45FF-ADAC-81B23D75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改进四：免费预检机制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4A446A-4775-49BD-B9D2-DDD18653D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71613"/>
            <a:ext cx="9221698" cy="34835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7CBEB5D-0E56-47A2-8183-AD67D112310D}"/>
              </a:ext>
            </a:extLst>
          </p:cNvPr>
          <p:cNvSpPr txBox="1"/>
          <p:nvPr/>
        </p:nvSpPr>
        <p:spPr>
          <a:xfrm>
            <a:off x="1358537" y="5181600"/>
            <a:ext cx="69252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_preflight() 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四项检查：空</a:t>
            </a:r>
            <a:r>
              <a:rPr lang="en-US" altLang="zh-CN" dirty="0"/>
              <a:t>/</a:t>
            </a:r>
            <a:r>
              <a:rPr lang="zh-CN" altLang="en-US" dirty="0"/>
              <a:t>过短、</a:t>
            </a:r>
            <a:r>
              <a:rPr lang="en-US" altLang="zh-CN" dirty="0"/>
              <a:t>markdown </a:t>
            </a:r>
            <a:r>
              <a:rPr lang="zh-CN" altLang="en-US" dirty="0"/>
              <a:t>泄漏、少顶层函数、花括号不匹配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参考模型没有预检，</a:t>
            </a:r>
            <a:r>
              <a:rPr lang="en-US" altLang="zh-CN" dirty="0" err="1"/>
              <a:t>llm</a:t>
            </a:r>
            <a:r>
              <a:rPr lang="en-US" altLang="zh-CN" dirty="0"/>
              <a:t> </a:t>
            </a:r>
            <a:r>
              <a:rPr lang="zh-CN" altLang="en-US" dirty="0"/>
              <a:t>返回的坏代码直接送 </a:t>
            </a:r>
            <a:r>
              <a:rPr lang="en-US" altLang="zh-CN" dirty="0" err="1"/>
              <a:t>csim</a:t>
            </a:r>
            <a:r>
              <a:rPr lang="en-US" altLang="zh-CN" dirty="0"/>
              <a:t> </a:t>
            </a:r>
            <a:r>
              <a:rPr lang="zh-CN" altLang="en-US" dirty="0"/>
              <a:t>浪费积分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6135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dirty="0"/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168155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490</Words>
  <Application>Microsoft Office PowerPoint</Application>
  <PresentationFormat>宽屏</PresentationFormat>
  <Paragraphs>71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智能小车方向三</vt:lpstr>
      <vt:lpstr>系统总体框图</vt:lpstr>
      <vt:lpstr>摄像头图像分辨率设置模块</vt:lpstr>
      <vt:lpstr>摄像头驱动模块</vt:lpstr>
      <vt:lpstr>摄像头数据采集模块</vt:lpstr>
      <vt:lpstr>I2C配置模块</vt:lpstr>
      <vt:lpstr>I2C驱动模块 </vt:lpstr>
      <vt:lpstr>DDR3控制模块</vt:lpstr>
      <vt:lpstr>DDR3控制模块</vt:lpstr>
      <vt:lpstr>DDR3读写模块</vt:lpstr>
      <vt:lpstr>DDR3读写模块</vt:lpstr>
      <vt:lpstr> FIFO调度顶层模块</vt:lpstr>
      <vt:lpstr>PowerPoint 演示文稿</vt:lpstr>
      <vt:lpstr>LCD顶层模块</vt:lpstr>
      <vt:lpstr>LCD显示模块</vt:lpstr>
      <vt:lpstr>读ID模块</vt:lpstr>
      <vt:lpstr>LCD驱动模块</vt:lpstr>
      <vt:lpstr>传感器传输模块</vt:lpstr>
      <vt:lpstr>FPT2026     Track-A    Budgeted End-to-End LLM4HLS Agent</vt:lpstr>
      <vt:lpstr>改进一：优化轮数分离</vt:lpstr>
      <vt:lpstr>改进二：分温度策略</vt:lpstr>
      <vt:lpstr>改进三：精准错误反馈</vt:lpstr>
      <vt:lpstr>改进四：免费预检机制</vt:lpstr>
      <vt:lpstr>谢谢观看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智能小车方向三</dc:title>
  <dc:creator>athutep jj</dc:creator>
  <cp:lastModifiedBy>athutep jj</cp:lastModifiedBy>
  <cp:revision>47</cp:revision>
  <dcterms:created xsi:type="dcterms:W3CDTF">2026-07-28T13:44:00Z</dcterms:created>
  <dcterms:modified xsi:type="dcterms:W3CDTF">2026-07-29T14:39:56Z</dcterms:modified>
</cp:coreProperties>
</file>