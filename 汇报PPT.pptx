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1CC"/>
    <a:srgbClr val="DBEDF3"/>
    <a:srgbClr val="B7D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D897BA-FE03-4ABF-B4FF-873208E258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7F5D08-4DCA-47B3-84FA-1A43EE4E13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18F791-B3E4-4942-A3E9-F852AC067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6B72F-169E-4B27-AAC8-2FB15069DFAE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610D77-2428-4390-85B1-E88C44A71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429874-6421-4F0C-9AF3-F2D5C0011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F9C7-93F9-4E06-A748-5F59A7360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650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39A5E6-B144-4E58-BFAA-02597278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B46DA9-224D-40C2-A600-EC95171D6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459B5F-04C3-4BD7-9107-BB68408ED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6B72F-169E-4B27-AAC8-2FB15069DFAE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FCB9A3-B2FE-4272-8C9C-93C937720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76044B-FDEB-4BA6-89A6-B6D85EE51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F9C7-93F9-4E06-A748-5F59A7360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98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51ED40-1D79-4DE7-8AC1-EEDBEFD55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9CF954-B19D-455B-99C6-0F9A3D6A5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9F024F-ACD2-4D45-8DCC-8D80AE81A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6B72F-169E-4B27-AAC8-2FB15069DFAE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BEDC01-C5D8-489B-B7A9-467852E1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4FB711-602D-44B6-9B26-1BB147344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F9C7-93F9-4E06-A748-5F59A7360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F5360E-0BB5-44ED-8069-ED8C9F048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3748F0-D4C0-4290-B7D6-112F1BB59E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C76E62-39A7-4EF6-AB55-B098C11ED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DCA622-685B-44A8-A39D-1522040C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6B72F-169E-4B27-AAC8-2FB15069DFAE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A85B6C-6F87-4F90-B631-4A3C7DD16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23EDCC-F3CC-4DF7-AA72-C1583B1A2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F9C7-93F9-4E06-A748-5F59A7360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973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ACA248-A3F2-4823-A1CD-7CA4E6A8B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8D05EB-8687-4579-AF31-3C4561703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0FBA51-896F-437A-BD1D-3C9B5C51E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AA7925-9897-47DC-A10F-ACC0912231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C778F88-47B0-4095-BFBC-8209DA010E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F43D5F8-052E-430D-8238-176FFADE8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6B72F-169E-4B27-AAC8-2FB15069DFAE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9E3DB4-D239-423F-8CB5-38F8DD606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97B353D-5188-4BD8-8AF1-F010B8633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F9C7-93F9-4E06-A748-5F59A7360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866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A80683-B189-4A03-9858-3F3ECD65C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31A974-9A6B-43FC-88A9-63F80174D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6B72F-169E-4B27-AAC8-2FB15069DFAE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AD5AA15-7360-42DA-A380-DBD5A558F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9A095F-21C8-448E-906E-FBE56E0C1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F9C7-93F9-4E06-A748-5F59A7360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500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A965FE-C86A-4734-AC92-9384C4998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6B72F-169E-4B27-AAC8-2FB15069DFAE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58CEEF2-3567-4043-ACA5-6FB46C4B7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F64106-85D5-4760-AC1C-ACFE755C1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F9C7-93F9-4E06-A748-5F59A7360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131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A0D57A-2099-475D-8EFB-CFC2111D0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6C448E-C0F2-459F-9BB4-A1091CCF2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2AD208-CEC5-4C15-AD30-CECDC8AB8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83F1E2-8A9F-4DEF-8AB4-47BDE1561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6B72F-169E-4B27-AAC8-2FB15069DFAE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EEE67C-BE98-4872-831B-6BCEF5CD5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B8BEC6-31CD-4A2C-A4B7-03C75315A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F9C7-93F9-4E06-A748-5F59A7360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780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CDCF3-31EF-4980-861A-89336497D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9DE5A6-3D52-4738-A60F-967CBD90B1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B5785B-4081-4290-B6D3-C4142C02D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3E7F3B-6723-47A7-B98A-C0242B590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6B72F-169E-4B27-AAC8-2FB15069DFAE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854077-8523-49B9-9650-453984CD7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B85A75-BF1C-40B8-BF2E-1EB46B6FE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F9C7-93F9-4E06-A748-5F59A7360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611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C7ED11-F193-40BC-97CA-176E47A11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0151EF-3A54-43B5-8D27-8BCCDB4BF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6188A3-6339-4CF3-9772-1462A2480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6B72F-169E-4B27-AAC8-2FB15069DFAE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8DC22E-B65A-44FD-84BC-F5C3CEBF3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4016AC-85FF-4E05-B8BC-8282873F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F9C7-93F9-4E06-A748-5F59A7360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258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09D592B-1B1A-4B54-A4F2-F969843B60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BBB13D5-DFB3-47C4-AC7F-0DE584736B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0116B0-49D2-47C4-8145-73CE7A24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6B72F-169E-4B27-AAC8-2FB15069DFAE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AA72D7-E7FE-406B-8675-D8B07C035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C643B7-792E-445E-9D29-D009FD665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F9C7-93F9-4E06-A748-5F59A7360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205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2D19830-28DC-46B9-A687-979C111AA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4A0CFB-CED3-4E16-AFBB-EDBE35DC3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B2EA8C-46D2-4163-9C4E-0DEEB8AE9E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6B72F-169E-4B27-AAC8-2FB15069DFAE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E48989-0938-4BB3-8DF0-B8140B09D1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69D27C-BE22-4281-AD82-A8B008F1CC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9F9C7-93F9-4E06-A748-5F59A7360A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534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54726E-2A71-4E0B-B4B2-F1E1B864C9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智能小车方向三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4C33A23-B1B0-473B-998C-E9939CA4F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07011"/>
            <a:ext cx="9144000" cy="1655762"/>
          </a:xfrm>
        </p:spPr>
        <p:txBody>
          <a:bodyPr/>
          <a:lstStyle/>
          <a:p>
            <a:r>
              <a:rPr lang="zh-CN" altLang="en-US" dirty="0"/>
              <a:t>唐李洋     孙嘉怡</a:t>
            </a:r>
          </a:p>
        </p:txBody>
      </p:sp>
    </p:spTree>
    <p:extLst>
      <p:ext uri="{BB962C8B-B14F-4D97-AF65-F5344CB8AC3E}">
        <p14:creationId xmlns:p14="http://schemas.microsoft.com/office/powerpoint/2010/main" val="2325947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系统总体框图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6FEA4E3-4A17-4D62-AC04-A370ED3B8D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5339" y="1825625"/>
            <a:ext cx="6881321" cy="4351338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29A5435-145E-443E-BD3E-4CFE869FA595}"/>
              </a:ext>
            </a:extLst>
          </p:cNvPr>
          <p:cNvSpPr/>
          <p:nvPr/>
        </p:nvSpPr>
        <p:spPr>
          <a:xfrm>
            <a:off x="9624951" y="2315689"/>
            <a:ext cx="1169719" cy="504701"/>
          </a:xfrm>
          <a:prstGeom prst="rect">
            <a:avLst/>
          </a:prstGeom>
          <a:solidFill>
            <a:srgbClr val="DBEDF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传感器模块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15DD37-086B-4C02-BD7D-7818BDF304CA}"/>
              </a:ext>
            </a:extLst>
          </p:cNvPr>
          <p:cNvSpPr/>
          <p:nvPr/>
        </p:nvSpPr>
        <p:spPr>
          <a:xfrm>
            <a:off x="9624950" y="1072738"/>
            <a:ext cx="1169719" cy="504701"/>
          </a:xfrm>
          <a:prstGeom prst="rect">
            <a:avLst/>
          </a:prstGeom>
          <a:solidFill>
            <a:srgbClr val="FFF1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ESP32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9B9FF28-4925-4989-8A1D-DB2B8CD8734C}"/>
              </a:ext>
            </a:extLst>
          </p:cNvPr>
          <p:cNvCxnSpPr/>
          <p:nvPr/>
        </p:nvCxnSpPr>
        <p:spPr>
          <a:xfrm>
            <a:off x="10209809" y="1664740"/>
            <a:ext cx="0" cy="617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83A03D0E-0A11-4B58-A285-E35B30DEA217}"/>
              </a:ext>
            </a:extLst>
          </p:cNvPr>
          <p:cNvSpPr txBox="1"/>
          <p:nvPr/>
        </p:nvSpPr>
        <p:spPr>
          <a:xfrm>
            <a:off x="10306297" y="1840071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传感器原始数据</a:t>
            </a: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1390E07F-7971-42AA-BE26-7D302F031376}"/>
              </a:ext>
            </a:extLst>
          </p:cNvPr>
          <p:cNvCxnSpPr>
            <a:cxnSpLocks/>
          </p:cNvCxnSpPr>
          <p:nvPr/>
        </p:nvCxnSpPr>
        <p:spPr>
          <a:xfrm rot="5400000">
            <a:off x="9326216" y="2961839"/>
            <a:ext cx="1094037" cy="8780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877AAF39-6756-4DF3-A4DA-48085684E30A}"/>
              </a:ext>
            </a:extLst>
          </p:cNvPr>
          <p:cNvSpPr txBox="1"/>
          <p:nvPr/>
        </p:nvSpPr>
        <p:spPr>
          <a:xfrm>
            <a:off x="10306297" y="3246951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计算后数据</a:t>
            </a:r>
          </a:p>
        </p:txBody>
      </p:sp>
    </p:spTree>
    <p:extLst>
      <p:ext uri="{BB962C8B-B14F-4D97-AF65-F5344CB8AC3E}">
        <p14:creationId xmlns:p14="http://schemas.microsoft.com/office/powerpoint/2010/main" val="870150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40DD3F-E04A-4075-90C9-21CBBDE77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摄像头图像分辨率设置模块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BB8A960-EB19-44DD-86C8-EA428C1FE2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402" y="1821144"/>
            <a:ext cx="4392065" cy="2638711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2B0BECF-3A42-4D5F-A814-95C09E2EAB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51254"/>
            <a:ext cx="5510000" cy="386503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0AF6854-70C9-490F-AEBF-02AC1DD8C160}"/>
              </a:ext>
            </a:extLst>
          </p:cNvPr>
          <p:cNvSpPr txBox="1"/>
          <p:nvPr/>
        </p:nvSpPr>
        <p:spPr>
          <a:xfrm>
            <a:off x="1276478" y="5142734"/>
            <a:ext cx="3768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摄像头最大分辨率</a:t>
            </a:r>
            <a:r>
              <a:rPr lang="en-US" altLang="zh-CN" dirty="0"/>
              <a:t>2592*1944</a:t>
            </a:r>
          </a:p>
          <a:p>
            <a:r>
              <a:rPr lang="zh-CN" altLang="en-US" dirty="0"/>
              <a:t>显示屏分辨率</a:t>
            </a:r>
            <a:r>
              <a:rPr lang="en-US" altLang="zh-CN" dirty="0"/>
              <a:t>800*480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摄像头分辨率设置为</a:t>
            </a:r>
            <a:r>
              <a:rPr lang="en-US" altLang="zh-CN" dirty="0"/>
              <a:t>400*480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6129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DA3FB0-B0E2-49E7-856E-3AAF90A97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摄像头驱动模块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8742C57-6122-41B3-91AD-37063785C7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49" y="2559043"/>
            <a:ext cx="5075912" cy="3933832"/>
          </a:xfr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45D5123F-E1A0-47A1-BEBE-B3B84ECABD71}"/>
              </a:ext>
            </a:extLst>
          </p:cNvPr>
          <p:cNvGrpSpPr/>
          <p:nvPr/>
        </p:nvGrpSpPr>
        <p:grpSpPr>
          <a:xfrm>
            <a:off x="7463839" y="328024"/>
            <a:ext cx="4002709" cy="6201951"/>
            <a:chOff x="7500661" y="45426"/>
            <a:chExt cx="4002709" cy="6201951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76C22B7-A95E-4D5A-8B6F-086312195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60741" y="45426"/>
              <a:ext cx="3876909" cy="2627738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6C7D7409-9EF6-408B-8F31-B2C1CF388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0661" y="2543751"/>
              <a:ext cx="4002709" cy="3703626"/>
            </a:xfrm>
            <a:prstGeom prst="rect">
              <a:avLst/>
            </a:prstGeom>
          </p:spPr>
        </p:pic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B9EDC04-0B84-4AE2-8814-01B159B6C6EE}"/>
              </a:ext>
            </a:extLst>
          </p:cNvPr>
          <p:cNvSpPr txBox="1"/>
          <p:nvPr/>
        </p:nvSpPr>
        <p:spPr>
          <a:xfrm>
            <a:off x="926275" y="1929740"/>
            <a:ext cx="6617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块由</a:t>
            </a:r>
            <a:r>
              <a:rPr lang="en-US" altLang="zh-CN" dirty="0"/>
              <a:t>IIC</a:t>
            </a:r>
            <a:r>
              <a:rPr lang="zh-CN" altLang="en-US" dirty="0"/>
              <a:t>驱动模块、</a:t>
            </a:r>
            <a:r>
              <a:rPr lang="en-US" altLang="zh-CN" dirty="0"/>
              <a:t>OV5640</a:t>
            </a:r>
            <a:r>
              <a:rPr lang="zh-CN" altLang="en-US" dirty="0"/>
              <a:t>配置模块和摄像头图像采集封装而成</a:t>
            </a:r>
          </a:p>
        </p:txBody>
      </p:sp>
    </p:spTree>
    <p:extLst>
      <p:ext uri="{BB962C8B-B14F-4D97-AF65-F5344CB8AC3E}">
        <p14:creationId xmlns:p14="http://schemas.microsoft.com/office/powerpoint/2010/main" val="985402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971809-F2CD-421F-B610-5CBE05FF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摄像头数据采集模块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342975B-A69D-45D3-905C-E8E5C6630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32" y="3848548"/>
            <a:ext cx="5599611" cy="2193396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2F56132-7E02-4726-95B8-59472D79B9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663" y="2420747"/>
            <a:ext cx="6096000" cy="395066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38A902B-BE1D-4FB8-9C62-F2EC8B476DDE}"/>
              </a:ext>
            </a:extLst>
          </p:cNvPr>
          <p:cNvSpPr txBox="1"/>
          <p:nvPr/>
        </p:nvSpPr>
        <p:spPr>
          <a:xfrm>
            <a:off x="290945" y="1793174"/>
            <a:ext cx="6370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将传感器输出的场同步信号、行同步信号以 及</a:t>
            </a:r>
            <a:r>
              <a:rPr lang="en-US" altLang="zh-CN" dirty="0"/>
              <a:t>8</a:t>
            </a:r>
            <a:r>
              <a:rPr lang="zh-CN" altLang="en-US" dirty="0"/>
              <a:t>位数据转换成</a:t>
            </a:r>
            <a:endParaRPr lang="en-US" altLang="zh-CN" dirty="0"/>
          </a:p>
          <a:p>
            <a:r>
              <a:rPr lang="en-US" altLang="zh-CN" dirty="0"/>
              <a:t>DDR</a:t>
            </a:r>
            <a:r>
              <a:rPr lang="zh-CN" altLang="en-US" dirty="0"/>
              <a:t>读写控制模块的写使能信号和</a:t>
            </a:r>
            <a:r>
              <a:rPr lang="en-US" altLang="zh-CN" dirty="0"/>
              <a:t>16</a:t>
            </a:r>
            <a:r>
              <a:rPr lang="zh-CN" altLang="en-US" dirty="0"/>
              <a:t>位写数据信号，</a:t>
            </a:r>
            <a:endParaRPr lang="en-US" altLang="zh-CN" dirty="0"/>
          </a:p>
          <a:p>
            <a:r>
              <a:rPr lang="zh-CN" altLang="en-US" dirty="0"/>
              <a:t>完成对</a:t>
            </a:r>
            <a:r>
              <a:rPr lang="en-US" altLang="zh-CN" dirty="0"/>
              <a:t>OV5640</a:t>
            </a:r>
            <a:r>
              <a:rPr lang="zh-CN" altLang="en-US" dirty="0"/>
              <a:t>传感器图像的采 集</a:t>
            </a:r>
          </a:p>
        </p:txBody>
      </p:sp>
    </p:spTree>
    <p:extLst>
      <p:ext uri="{BB962C8B-B14F-4D97-AF65-F5344CB8AC3E}">
        <p14:creationId xmlns:p14="http://schemas.microsoft.com/office/powerpoint/2010/main" val="69436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I2C</a:t>
            </a:r>
            <a:r>
              <a:rPr lang="zh-CN" altLang="en-US" sz="3200" dirty="0"/>
              <a:t>配置模块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0AD3E1E-134A-41B2-9041-896C9336A4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781" y="2651775"/>
            <a:ext cx="5582084" cy="3561420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1B84A97-9375-41BC-9D87-A1898A15E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126" y="1515513"/>
            <a:ext cx="4772659" cy="482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865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I2C</a:t>
            </a:r>
            <a:r>
              <a:rPr lang="zh-CN" altLang="en-US" sz="3200" dirty="0"/>
              <a:t>驱动模块 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33E1124-8A78-4C5F-9861-B5E5890A4D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83" y="4010111"/>
            <a:ext cx="5283159" cy="2130740"/>
          </a:xfr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F4F636E-8FDD-4822-AA67-023C398727A5}"/>
              </a:ext>
            </a:extLst>
          </p:cNvPr>
          <p:cNvGrpSpPr/>
          <p:nvPr/>
        </p:nvGrpSpPr>
        <p:grpSpPr>
          <a:xfrm>
            <a:off x="6287984" y="1128155"/>
            <a:ext cx="5797138" cy="5204695"/>
            <a:chOff x="4654819" y="150775"/>
            <a:chExt cx="6925911" cy="6306473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2CD8F0A0-C216-4141-AADB-457587D5DB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"/>
            <a:stretch/>
          </p:blipFill>
          <p:spPr>
            <a:xfrm>
              <a:off x="4690754" y="150775"/>
              <a:ext cx="6889976" cy="373380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76EA8205-7370-4BA5-A84C-5A90D66C8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4819" y="3742623"/>
              <a:ext cx="6829425" cy="2714625"/>
            </a:xfrm>
            <a:prstGeom prst="rect">
              <a:avLst/>
            </a:prstGeom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FDD7B87-0C3D-447E-940F-8E999F1E61DE}"/>
              </a:ext>
            </a:extLst>
          </p:cNvPr>
          <p:cNvSpPr txBox="1"/>
          <p:nvPr/>
        </p:nvSpPr>
        <p:spPr>
          <a:xfrm>
            <a:off x="1550126" y="2368731"/>
            <a:ext cx="36599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负责驱动</a:t>
            </a:r>
            <a:r>
              <a:rPr lang="en-US" altLang="zh-CN" dirty="0"/>
              <a:t>OV5640 SCCB</a:t>
            </a:r>
            <a:r>
              <a:rPr lang="zh-CN" altLang="en-US" dirty="0"/>
              <a:t>接口总线，</a:t>
            </a:r>
            <a:endParaRPr lang="en-US" altLang="zh-CN" dirty="0"/>
          </a:p>
          <a:p>
            <a:r>
              <a:rPr lang="zh-CN" altLang="en-US" dirty="0"/>
              <a:t>对</a:t>
            </a:r>
            <a:r>
              <a:rPr lang="en-US" altLang="zh-CN" dirty="0"/>
              <a:t>OV5640</a:t>
            </a:r>
            <a:r>
              <a:rPr lang="zh-CN" altLang="en-US" dirty="0"/>
              <a:t>的寄存器进行配置</a:t>
            </a:r>
          </a:p>
        </p:txBody>
      </p:sp>
    </p:spTree>
    <p:extLst>
      <p:ext uri="{BB962C8B-B14F-4D97-AF65-F5344CB8AC3E}">
        <p14:creationId xmlns:p14="http://schemas.microsoft.com/office/powerpoint/2010/main" val="1404283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DDR3</a:t>
            </a:r>
            <a:r>
              <a:rPr lang="zh-CN" altLang="en-US" sz="3200" dirty="0"/>
              <a:t>控制模块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FBA16B8-7781-4F45-9D95-450C0C12E5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669" y="2367169"/>
            <a:ext cx="4913088" cy="4351338"/>
          </a:xfr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CD1E3DF-E19E-4A96-A15D-DE591D8AD96F}"/>
              </a:ext>
            </a:extLst>
          </p:cNvPr>
          <p:cNvSpPr txBox="1"/>
          <p:nvPr/>
        </p:nvSpPr>
        <p:spPr>
          <a:xfrm>
            <a:off x="5467711" y="1039744"/>
            <a:ext cx="651973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两个摄像头采集数据并且把数据存入两个写</a:t>
            </a:r>
            <a:r>
              <a:rPr lang="en-US" altLang="zh-CN" dirty="0"/>
              <a:t>FIFO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两个写</a:t>
            </a:r>
            <a:r>
              <a:rPr lang="en-US" altLang="zh-CN" dirty="0"/>
              <a:t>FIFO</a:t>
            </a:r>
            <a:r>
              <a:rPr lang="zh-CN" altLang="en-US" dirty="0"/>
              <a:t>再将数据写入</a:t>
            </a:r>
            <a:r>
              <a:rPr lang="en-US" altLang="zh-CN" dirty="0"/>
              <a:t>DDR3</a:t>
            </a:r>
            <a:r>
              <a:rPr lang="zh-CN" altLang="en-US" dirty="0"/>
              <a:t>的两个不同的存储空间中，</a:t>
            </a:r>
            <a:endParaRPr lang="en-US" altLang="zh-CN" dirty="0"/>
          </a:p>
          <a:p>
            <a:r>
              <a:rPr lang="zh-CN" altLang="en-US" dirty="0"/>
              <a:t>接着两个读</a:t>
            </a:r>
            <a:r>
              <a:rPr lang="en-US" altLang="zh-CN" dirty="0"/>
              <a:t>FIFO</a:t>
            </a:r>
            <a:r>
              <a:rPr lang="zh-CN" altLang="en-US" dirty="0"/>
              <a:t>分别从两个对应的</a:t>
            </a:r>
            <a:r>
              <a:rPr lang="en-US" altLang="zh-CN" dirty="0"/>
              <a:t>DDR3</a:t>
            </a:r>
            <a:r>
              <a:rPr lang="zh-CN" altLang="en-US" dirty="0"/>
              <a:t>地址空间中取出数据，</a:t>
            </a:r>
            <a:endParaRPr lang="en-US" altLang="zh-CN" dirty="0"/>
          </a:p>
          <a:p>
            <a:r>
              <a:rPr lang="zh-CN" altLang="en-US" dirty="0"/>
              <a:t>最后两组数据一起拼接为完整的一帧</a:t>
            </a:r>
            <a:r>
              <a:rPr lang="en-US" altLang="zh-CN" dirty="0"/>
              <a:t>LCD</a:t>
            </a:r>
            <a:r>
              <a:rPr lang="zh-CN" altLang="en-US" dirty="0"/>
              <a:t>图像，</a:t>
            </a:r>
            <a:endParaRPr lang="en-US" altLang="zh-CN" dirty="0"/>
          </a:p>
          <a:p>
            <a:r>
              <a:rPr lang="zh-CN" altLang="en-US" dirty="0"/>
              <a:t>达到一个屏幕同时显示两幅图像的效果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AB8EFB4-0878-401F-990B-977B53A4B668}"/>
              </a:ext>
            </a:extLst>
          </p:cNvPr>
          <p:cNvGrpSpPr/>
          <p:nvPr/>
        </p:nvGrpSpPr>
        <p:grpSpPr>
          <a:xfrm>
            <a:off x="5313728" y="2924572"/>
            <a:ext cx="3618304" cy="1808355"/>
            <a:chOff x="1852612" y="2233612"/>
            <a:chExt cx="8486775" cy="4919548"/>
          </a:xfrm>
        </p:grpSpPr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0B40AECE-CFAE-4F54-99A5-2F18041C0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2612" y="2233612"/>
              <a:ext cx="8486775" cy="2390775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17AAB003-D6F4-4698-839A-A299292E4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1927" y="4482324"/>
              <a:ext cx="8152410" cy="2670836"/>
            </a:xfrm>
            <a:prstGeom prst="rect">
              <a:avLst/>
            </a:prstGeom>
          </p:spPr>
        </p:pic>
      </p:grpSp>
      <p:pic>
        <p:nvPicPr>
          <p:cNvPr id="35" name="图片 34">
            <a:extLst>
              <a:ext uri="{FF2B5EF4-FFF2-40B4-BE49-F238E27FC236}">
                <a16:creationId xmlns:a16="http://schemas.microsoft.com/office/drawing/2014/main" id="{FD322D7A-0069-4B03-8605-D5889DFD48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7004" y="3188112"/>
            <a:ext cx="3093364" cy="1618957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642AB402-4C4B-4267-8F67-80225FCA63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9407" y="5140427"/>
            <a:ext cx="2787675" cy="1461036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999338B8-8AB5-480F-A25C-A0D271FD50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725" y="5098829"/>
            <a:ext cx="2655720" cy="139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548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DDR3</a:t>
            </a:r>
            <a:r>
              <a:rPr lang="zh-CN" altLang="en-US" sz="3200" dirty="0"/>
              <a:t>控制模块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7F2F588-FB23-4700-84ED-81C5C0845D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25" y="3429000"/>
            <a:ext cx="10115550" cy="3143250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AFA11E0-E205-46C4-85A5-3390488A079A}"/>
              </a:ext>
            </a:extLst>
          </p:cNvPr>
          <p:cNvSpPr txBox="1"/>
          <p:nvPr/>
        </p:nvSpPr>
        <p:spPr>
          <a:xfrm>
            <a:off x="2464130" y="1674674"/>
            <a:ext cx="651973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两个摄像头采集数据并且把数据存入两个写</a:t>
            </a:r>
            <a:r>
              <a:rPr lang="en-US" altLang="zh-CN" dirty="0"/>
              <a:t>FIFO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两个写</a:t>
            </a:r>
            <a:r>
              <a:rPr lang="en-US" altLang="zh-CN" dirty="0"/>
              <a:t>FIFO</a:t>
            </a:r>
            <a:r>
              <a:rPr lang="zh-CN" altLang="en-US" dirty="0"/>
              <a:t>再将数据写入</a:t>
            </a:r>
            <a:r>
              <a:rPr lang="en-US" altLang="zh-CN" dirty="0"/>
              <a:t>DDR3</a:t>
            </a:r>
            <a:r>
              <a:rPr lang="zh-CN" altLang="en-US" dirty="0"/>
              <a:t>的两个不同的存储空间中，</a:t>
            </a:r>
            <a:endParaRPr lang="en-US" altLang="zh-CN" dirty="0"/>
          </a:p>
          <a:p>
            <a:r>
              <a:rPr lang="zh-CN" altLang="en-US" dirty="0"/>
              <a:t>接着两个读</a:t>
            </a:r>
            <a:r>
              <a:rPr lang="en-US" altLang="zh-CN" dirty="0"/>
              <a:t>FIFO</a:t>
            </a:r>
            <a:r>
              <a:rPr lang="zh-CN" altLang="en-US" dirty="0"/>
              <a:t>分别从两个对应的</a:t>
            </a:r>
            <a:r>
              <a:rPr lang="en-US" altLang="zh-CN" dirty="0"/>
              <a:t>DDR3</a:t>
            </a:r>
            <a:r>
              <a:rPr lang="zh-CN" altLang="en-US" dirty="0"/>
              <a:t>地址空间中取出数据，</a:t>
            </a:r>
            <a:endParaRPr lang="en-US" altLang="zh-CN" dirty="0"/>
          </a:p>
          <a:p>
            <a:r>
              <a:rPr lang="zh-CN" altLang="en-US" dirty="0"/>
              <a:t>最后两组数据一起拼接为完整的一帧</a:t>
            </a:r>
            <a:r>
              <a:rPr lang="en-US" altLang="zh-CN" dirty="0"/>
              <a:t>LCD</a:t>
            </a:r>
            <a:r>
              <a:rPr lang="zh-CN" altLang="en-US" dirty="0"/>
              <a:t>图像，</a:t>
            </a:r>
            <a:endParaRPr lang="en-US" altLang="zh-CN" dirty="0"/>
          </a:p>
          <a:p>
            <a:r>
              <a:rPr lang="zh-CN" altLang="en-US" dirty="0"/>
              <a:t>达到一个屏幕同时显示两幅图像的效果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3256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006" y="11984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DDR3</a:t>
            </a:r>
            <a:r>
              <a:rPr lang="zh-CN" altLang="en-US" sz="3200" dirty="0"/>
              <a:t>读写模块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E5FD391-FFFA-4358-872B-F7E86D5E6F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06" y="1748228"/>
            <a:ext cx="2687706" cy="4351338"/>
          </a:xfr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F730E1F-6696-4041-8675-91649CEAE8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010"/>
          <a:stretch/>
        </p:blipFill>
        <p:spPr>
          <a:xfrm>
            <a:off x="7810320" y="2549173"/>
            <a:ext cx="3915234" cy="3805036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ADE17CE6-C1E2-4CFC-9C06-140A63379C4B}"/>
              </a:ext>
            </a:extLst>
          </p:cNvPr>
          <p:cNvGrpSpPr/>
          <p:nvPr/>
        </p:nvGrpSpPr>
        <p:grpSpPr>
          <a:xfrm>
            <a:off x="3932904" y="2549173"/>
            <a:ext cx="3550257" cy="3805036"/>
            <a:chOff x="5047477" y="2454473"/>
            <a:chExt cx="2623417" cy="2811683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AFF88EE4-0631-46E2-86E9-93F7A9AA4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91783" y="2454473"/>
              <a:ext cx="2579111" cy="87144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35F0E742-2C27-480F-AAE5-9EFE3D62A3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5394"/>
            <a:stretch/>
          </p:blipFill>
          <p:spPr>
            <a:xfrm>
              <a:off x="5047477" y="3272474"/>
              <a:ext cx="2528982" cy="19936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0530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DDR3</a:t>
            </a:r>
            <a:r>
              <a:rPr lang="zh-CN" altLang="en-US" sz="3200" dirty="0"/>
              <a:t>读写模块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F8BE05B-F437-4EC3-A759-FA41E27F4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0233" y="427512"/>
            <a:ext cx="5376311" cy="614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57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 </a:t>
            </a:r>
            <a:r>
              <a:rPr lang="en-US" altLang="zh-CN" sz="3200" dirty="0"/>
              <a:t>FIFO</a:t>
            </a:r>
            <a:r>
              <a:rPr lang="zh-CN" altLang="en-US" sz="3200" dirty="0"/>
              <a:t>调度顶层模块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8014E4A-E277-478B-821A-AAC94AF7A6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46" y="1690688"/>
            <a:ext cx="5973054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EAA07AE-D4C0-4D5E-8F5B-5366C9F6AB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421" y="2702327"/>
            <a:ext cx="5277345" cy="251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832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EC38AFB-83E1-41F6-BA3B-2613949AF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08" y="567005"/>
            <a:ext cx="5143500" cy="2781300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42674FD-BC6D-46EA-955D-3528CE9871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69" y="3773785"/>
            <a:ext cx="4675566" cy="248820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B320914-4E0E-4341-AD4A-374F86E99F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778" y="256767"/>
            <a:ext cx="4276725" cy="32289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589B077-5C95-4705-A769-BFEF21FCF1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861" y="3860149"/>
            <a:ext cx="4985083" cy="263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88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LCD</a:t>
            </a:r>
            <a:r>
              <a:rPr lang="zh-CN" altLang="en-US" dirty="0"/>
              <a:t>顶层模块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BF406493-A82A-4461-85FB-A0EA8303CC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845" y="1825625"/>
            <a:ext cx="8152309" cy="4351338"/>
          </a:xfr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48CD867-151A-490D-9C7E-DC46F23AAB58}"/>
              </a:ext>
            </a:extLst>
          </p:cNvPr>
          <p:cNvCxnSpPr>
            <a:cxnSpLocks/>
          </p:cNvCxnSpPr>
          <p:nvPr/>
        </p:nvCxnSpPr>
        <p:spPr>
          <a:xfrm>
            <a:off x="2185060" y="5607133"/>
            <a:ext cx="41365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74CFD9BB-0C3A-4097-8D73-43F848A36A34}"/>
              </a:ext>
            </a:extLst>
          </p:cNvPr>
          <p:cNvSpPr txBox="1"/>
          <p:nvPr/>
        </p:nvSpPr>
        <p:spPr>
          <a:xfrm>
            <a:off x="2755292" y="5299356"/>
            <a:ext cx="19720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speed, </a:t>
            </a:r>
            <a:r>
              <a:rPr lang="en-US" altLang="zh-CN" sz="1400" dirty="0" err="1"/>
              <a:t>accspeed</a:t>
            </a:r>
            <a:r>
              <a:rPr lang="en-US" altLang="zh-CN" sz="1400" dirty="0"/>
              <a:t>, angle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13270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LCD</a:t>
            </a:r>
            <a:r>
              <a:rPr lang="zh-CN" altLang="en-US" sz="3200" dirty="0"/>
              <a:t>显示模块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4AD64D6-C0F4-4260-8DDC-327DB8A79B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102" y="2506413"/>
            <a:ext cx="5404077" cy="3624421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4496C76-2575-45CB-AA56-559B4BA27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197225"/>
            <a:ext cx="5857875" cy="3114675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1EA9BE9-72E2-470A-BB20-ECBEDE45BE57}"/>
              </a:ext>
            </a:extLst>
          </p:cNvPr>
          <p:cNvCxnSpPr>
            <a:cxnSpLocks/>
          </p:cNvCxnSpPr>
          <p:nvPr/>
        </p:nvCxnSpPr>
        <p:spPr>
          <a:xfrm flipH="1">
            <a:off x="4215740" y="2927267"/>
            <a:ext cx="15311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A92629D-4934-48DC-A5A7-3B67B530FAB0}"/>
              </a:ext>
            </a:extLst>
          </p:cNvPr>
          <p:cNvSpPr txBox="1"/>
          <p:nvPr/>
        </p:nvSpPr>
        <p:spPr>
          <a:xfrm>
            <a:off x="4453464" y="2636162"/>
            <a:ext cx="1321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speed 32</a:t>
            </a:r>
            <a:r>
              <a:rPr lang="zh-CN" altLang="en-US" sz="1400" dirty="0"/>
              <a:t>位宽</a:t>
            </a:r>
            <a:r>
              <a:rPr lang="en-US" altLang="zh-CN" sz="1400" dirty="0"/>
              <a:t> </a:t>
            </a:r>
            <a:endParaRPr lang="zh-CN" altLang="en-US" sz="1400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08FAB89-2EFA-4055-AF93-3D3471D9DD45}"/>
              </a:ext>
            </a:extLst>
          </p:cNvPr>
          <p:cNvCxnSpPr>
            <a:cxnSpLocks/>
          </p:cNvCxnSpPr>
          <p:nvPr/>
        </p:nvCxnSpPr>
        <p:spPr>
          <a:xfrm flipH="1">
            <a:off x="4215739" y="5442857"/>
            <a:ext cx="15311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E01DD70-99CF-4880-A961-400AD80FC339}"/>
              </a:ext>
            </a:extLst>
          </p:cNvPr>
          <p:cNvCxnSpPr>
            <a:cxnSpLocks/>
          </p:cNvCxnSpPr>
          <p:nvPr/>
        </p:nvCxnSpPr>
        <p:spPr>
          <a:xfrm flipH="1">
            <a:off x="4215740" y="3659579"/>
            <a:ext cx="15311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CB626B3A-9958-4DED-B59B-A7AD22D06EE3}"/>
              </a:ext>
            </a:extLst>
          </p:cNvPr>
          <p:cNvSpPr txBox="1"/>
          <p:nvPr/>
        </p:nvSpPr>
        <p:spPr>
          <a:xfrm>
            <a:off x="4411373" y="3351802"/>
            <a:ext cx="15504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/>
              <a:t>accspeed</a:t>
            </a:r>
            <a:r>
              <a:rPr lang="en-US" altLang="zh-CN" sz="1400" dirty="0"/>
              <a:t> 32</a:t>
            </a:r>
            <a:r>
              <a:rPr lang="zh-CN" altLang="en-US" sz="1400" dirty="0"/>
              <a:t>位宽</a:t>
            </a:r>
            <a:r>
              <a:rPr lang="en-US" altLang="zh-CN" sz="1400" dirty="0"/>
              <a:t> </a:t>
            </a:r>
            <a:endParaRPr lang="zh-CN" altLang="en-US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3801660-B7DC-43C5-B3C5-8F450B1D6388}"/>
              </a:ext>
            </a:extLst>
          </p:cNvPr>
          <p:cNvSpPr txBox="1"/>
          <p:nvPr/>
        </p:nvSpPr>
        <p:spPr>
          <a:xfrm>
            <a:off x="4411373" y="5135079"/>
            <a:ext cx="1257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angle 32</a:t>
            </a:r>
            <a:r>
              <a:rPr lang="zh-CN" altLang="en-US" sz="1400" dirty="0"/>
              <a:t>位宽</a:t>
            </a:r>
            <a:r>
              <a:rPr lang="en-US" altLang="zh-CN" sz="1400" dirty="0"/>
              <a:t> 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42622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读</a:t>
            </a:r>
            <a:r>
              <a:rPr lang="en-US" altLang="zh-CN" sz="3200" dirty="0"/>
              <a:t>ID</a:t>
            </a:r>
            <a:r>
              <a:rPr lang="zh-CN" altLang="en-US" sz="3200" dirty="0"/>
              <a:t>模块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4EEC105-6E1E-4296-94E7-18CFD99AD0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853" y="325641"/>
            <a:ext cx="5362575" cy="2400300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6B9EEF2-7255-403F-BC1F-321CFF0E7B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14" y="3062148"/>
            <a:ext cx="9071602" cy="370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709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LCD</a:t>
            </a:r>
            <a:r>
              <a:rPr lang="zh-CN" altLang="en-US" sz="3200" dirty="0"/>
              <a:t>驱动模块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7B4B9C9-C372-4283-AF10-A47AE3A482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6" y="3052789"/>
            <a:ext cx="5390877" cy="3205188"/>
          </a:xfr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4B6349A7-B8FD-4BD4-9F54-674803273DC9}"/>
              </a:ext>
            </a:extLst>
          </p:cNvPr>
          <p:cNvGrpSpPr/>
          <p:nvPr/>
        </p:nvGrpSpPr>
        <p:grpSpPr>
          <a:xfrm>
            <a:off x="5198744" y="901325"/>
            <a:ext cx="6915150" cy="4908764"/>
            <a:chOff x="4089317" y="705382"/>
            <a:chExt cx="6915150" cy="4908764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5A3D71A3-CA6D-44DC-9D39-AC9D30116B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9317" y="705382"/>
              <a:ext cx="6915150" cy="405765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1928FBA-3B54-44DE-B621-FD54C39B07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66"/>
            <a:stretch/>
          </p:blipFill>
          <p:spPr>
            <a:xfrm>
              <a:off x="4119007" y="4708566"/>
              <a:ext cx="6819900" cy="9055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54815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传感器传输模块</a:t>
            </a:r>
          </a:p>
        </p:txBody>
      </p:sp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0D9FF57F-20EA-4000-B350-FA02FA2052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0" y="1375733"/>
            <a:ext cx="9182100" cy="3600450"/>
          </a:xfr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70E4727-4C5C-4BAA-ACC3-B1241B1F19D3}"/>
              </a:ext>
            </a:extLst>
          </p:cNvPr>
          <p:cNvSpPr/>
          <p:nvPr/>
        </p:nvSpPr>
        <p:spPr>
          <a:xfrm>
            <a:off x="2778812" y="1704218"/>
            <a:ext cx="3693240" cy="961791"/>
          </a:xfrm>
          <a:prstGeom prst="rect">
            <a:avLst/>
          </a:prstGeom>
          <a:solidFill>
            <a:srgbClr val="B7DDE8"/>
          </a:solidFill>
          <a:ln>
            <a:solidFill>
              <a:srgbClr val="B7DD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597AF2-E8C1-4E17-865A-545D30293E18}"/>
              </a:ext>
            </a:extLst>
          </p:cNvPr>
          <p:cNvSpPr/>
          <p:nvPr/>
        </p:nvSpPr>
        <p:spPr>
          <a:xfrm>
            <a:off x="6537366" y="1483386"/>
            <a:ext cx="2024743" cy="10087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6323F1-8EF2-495E-993E-DF050DFF3A41}"/>
              </a:ext>
            </a:extLst>
          </p:cNvPr>
          <p:cNvSpPr/>
          <p:nvPr/>
        </p:nvSpPr>
        <p:spPr>
          <a:xfrm>
            <a:off x="2885704" y="5720305"/>
            <a:ext cx="1009402" cy="516577"/>
          </a:xfrm>
          <a:prstGeom prst="rect">
            <a:avLst/>
          </a:prstGeom>
          <a:solidFill>
            <a:srgbClr val="FFF1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数据计算模块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1F5FBCB-4B6D-4203-86E9-47F3EE21660C}"/>
              </a:ext>
            </a:extLst>
          </p:cNvPr>
          <p:cNvCxnSpPr>
            <a:cxnSpLocks/>
          </p:cNvCxnSpPr>
          <p:nvPr/>
        </p:nvCxnSpPr>
        <p:spPr>
          <a:xfrm>
            <a:off x="3372592" y="4655127"/>
            <a:ext cx="0" cy="955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DA84A489-215B-4047-BF59-4A993D26BD4F}"/>
              </a:ext>
            </a:extLst>
          </p:cNvPr>
          <p:cNvSpPr txBox="1"/>
          <p:nvPr/>
        </p:nvSpPr>
        <p:spPr>
          <a:xfrm>
            <a:off x="3372592" y="508539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计算数据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99287B7-2A8E-4213-A458-4A6742C7965F}"/>
              </a:ext>
            </a:extLst>
          </p:cNvPr>
          <p:cNvCxnSpPr>
            <a:cxnSpLocks/>
          </p:cNvCxnSpPr>
          <p:nvPr/>
        </p:nvCxnSpPr>
        <p:spPr>
          <a:xfrm>
            <a:off x="4059382" y="5978593"/>
            <a:ext cx="13854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0D6FBFE7-02B8-4991-82E3-7BE26593D76A}"/>
              </a:ext>
            </a:extLst>
          </p:cNvPr>
          <p:cNvSpPr txBox="1"/>
          <p:nvPr/>
        </p:nvSpPr>
        <p:spPr>
          <a:xfrm>
            <a:off x="4174026" y="561109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计算结果</a:t>
            </a:r>
          </a:p>
        </p:txBody>
      </p:sp>
    </p:spTree>
    <p:extLst>
      <p:ext uri="{BB962C8B-B14F-4D97-AF65-F5344CB8AC3E}">
        <p14:creationId xmlns:p14="http://schemas.microsoft.com/office/powerpoint/2010/main" val="4078081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3F9AB-8242-46F8-BD88-81E10D2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3A33EA-3836-4195-9A40-924C46AD1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551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319</Words>
  <Application>Microsoft Office PowerPoint</Application>
  <PresentationFormat>宽屏</PresentationFormat>
  <Paragraphs>48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等线</vt:lpstr>
      <vt:lpstr>等线 Light</vt:lpstr>
      <vt:lpstr>Arial</vt:lpstr>
      <vt:lpstr>Office 主题​​</vt:lpstr>
      <vt:lpstr>智能小车方向三</vt:lpstr>
      <vt:lpstr>系统总体框图</vt:lpstr>
      <vt:lpstr>摄像头图像分辨率设置模块</vt:lpstr>
      <vt:lpstr>摄像头驱动模块</vt:lpstr>
      <vt:lpstr>摄像头数据采集模块</vt:lpstr>
      <vt:lpstr>I2C配置模块</vt:lpstr>
      <vt:lpstr>I2C驱动模块 </vt:lpstr>
      <vt:lpstr>DDR3控制模块</vt:lpstr>
      <vt:lpstr>DDR3控制模块</vt:lpstr>
      <vt:lpstr>DDR3读写模块</vt:lpstr>
      <vt:lpstr>DDR3读写模块</vt:lpstr>
      <vt:lpstr> FIFO调度顶层模块</vt:lpstr>
      <vt:lpstr>PowerPoint 演示文稿</vt:lpstr>
      <vt:lpstr>LCD顶层模块</vt:lpstr>
      <vt:lpstr>LCD显示模块</vt:lpstr>
      <vt:lpstr>读ID模块</vt:lpstr>
      <vt:lpstr>LCD驱动模块</vt:lpstr>
      <vt:lpstr>传感器传输模块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智能小车方向三</dc:title>
  <dc:creator>athutep jj</dc:creator>
  <cp:lastModifiedBy>athutep jj</cp:lastModifiedBy>
  <cp:revision>31</cp:revision>
  <dcterms:created xsi:type="dcterms:W3CDTF">2026-07-28T13:44:00Z</dcterms:created>
  <dcterms:modified xsi:type="dcterms:W3CDTF">2026-07-29T03:04:59Z</dcterms:modified>
</cp:coreProperties>
</file>